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PhAnim="0"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239184" y="692150"/>
            <a:ext cx="11885083" cy="6110288"/>
          </a:xfrm>
          <a:prstGeom prst="rect">
            <a:avLst/>
          </a:prstGeom>
          <a:noFill/>
          <a:ln w="9525">
            <a:noFill/>
          </a:ln>
        </p:spPr>
      </p:pic>
      <p:sp>
        <p:nvSpPr>
          <p:cNvPr id="10" name="Rectangle 7"/>
          <p:cNvSpPr>
            <a:spLocks noChangeArrowheads="1"/>
          </p:cNvSpPr>
          <p:nvPr/>
        </p:nvSpPr>
        <p:spPr bwMode="auto">
          <a:xfrm>
            <a:off x="2117" y="549275"/>
            <a:ext cx="12192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ChangeArrowheads="1"/>
          </p:cNvSpPr>
          <p:nvPr>
            <p:ph type="subTitle" idx="1"/>
          </p:nvPr>
        </p:nvSpPr>
        <p:spPr>
          <a:xfrm>
            <a:off x="2544233" y="2492375"/>
            <a:ext cx="7393517" cy="1222375"/>
          </a:xfrm>
        </p:spPr>
        <p:txBody>
          <a:bodyPr anchor="ctr"/>
          <a:lstStyle>
            <a:lvl1pPr marL="0" indent="0" algn="ctr">
              <a:buFontTx/>
              <a:buNone/>
              <a:defRPr/>
            </a:lvl1pPr>
          </a:lstStyle>
          <a:p>
            <a:pPr lvl="0"/>
            <a:r>
              <a:rPr lang="en-US" altLang="zh-CN" noProof="0" smtClean="0"/>
              <a:t>Click to edit Master subtitle style</a:t>
            </a:r>
            <a:endParaRPr lang="en-US" altLang="zh-CN" noProof="0" smtClean="0"/>
          </a:p>
        </p:txBody>
      </p:sp>
      <p:sp>
        <p:nvSpPr>
          <p:cNvPr id="2056" name="Rectangle 8"/>
          <p:cNvSpPr>
            <a:spLocks noChangeArrowheads="1"/>
          </p:cNvSpPr>
          <p:nvPr>
            <p:ph type="ctrTitle"/>
          </p:nvPr>
        </p:nvSpPr>
        <p:spPr>
          <a:xfrm>
            <a:off x="1007533" y="620713"/>
            <a:ext cx="10363200" cy="1470025"/>
          </a:xfrm>
        </p:spPr>
        <p:txBody>
          <a:bodyPr/>
          <a:lstStyle>
            <a:lvl1pPr>
              <a:defRPr sz="3600"/>
            </a:lvl1pPr>
          </a:lstStyle>
          <a:p>
            <a:pPr lvl="0"/>
            <a:r>
              <a:rPr lang="en-US" altLang="zh-CN" noProof="0" smtClean="0"/>
              <a:t>Click to edit Master title style</a:t>
            </a:r>
            <a:endParaRPr lang="en-US" altLang="zh-CN" noProof="0" smtClean="0"/>
          </a:p>
        </p:txBody>
      </p:sp>
      <p:sp>
        <p:nvSpPr>
          <p:cNvPr id="11" name="Rectangle 4"/>
          <p:cNvSpPr>
            <a:spLocks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2" name="Rectangle 5"/>
          <p:cNvSpPr>
            <a:spLocks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3" name="Rectangle 6"/>
          <p:cNvSpPr>
            <a:spLocks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2117" y="333375"/>
            <a:ext cx="12192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2"/>
          <a:srcRect t="1094" r="8122" b="13318"/>
          <a:stretch>
            <a:fillRect/>
          </a:stretch>
        </p:blipFill>
        <p:spPr>
          <a:xfrm>
            <a:off x="7730067" y="4438650"/>
            <a:ext cx="4453467" cy="2333625"/>
          </a:xfrm>
          <a:prstGeom prst="rect">
            <a:avLst/>
          </a:prstGeom>
          <a:noFill/>
          <a:ln w="9525">
            <a:noFill/>
          </a:ln>
        </p:spPr>
      </p:pic>
      <p:sp>
        <p:nvSpPr>
          <p:cNvPr id="1028" name="Rectangle 4"/>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5"/>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30" name="Rectangle 6"/>
          <p:cNvSpPr>
            <a:spLocks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1" name="Rectangle 7"/>
          <p:cNvSpPr>
            <a:spLocks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2" name="Rectangle 8"/>
          <p:cNvSpPr>
            <a:spLocks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363345" y="1121410"/>
            <a:ext cx="9084945" cy="1012825"/>
          </a:xfrm>
        </p:spPr>
        <p:txBody>
          <a:bodyPr>
            <a:normAutofit fontScale="90000"/>
          </a:bodyPr>
          <a:p>
            <a:r>
              <a:rPr lang="en-US">
                <a:ln>
                  <a:solidFill>
                    <a:sysClr val="windowText" lastClr="000000"/>
                  </a:solidFill>
                </a:ln>
              </a:rPr>
              <a:t>SCHOLARSHIP MANAGEMENT SYSTEM</a:t>
            </a:r>
            <a:endParaRPr lang="en-US">
              <a:ln>
                <a:solidFill>
                  <a:sysClr val="windowText" lastClr="000000"/>
                </a:solidFill>
              </a:ln>
            </a:endParaRPr>
          </a:p>
        </p:txBody>
      </p:sp>
      <p:sp>
        <p:nvSpPr>
          <p:cNvPr id="3" name="Subtitle 2"/>
          <p:cNvSpPr>
            <a:spLocks noGrp="1"/>
          </p:cNvSpPr>
          <p:nvPr>
            <p:ph type="subTitle" idx="1"/>
          </p:nvPr>
        </p:nvSpPr>
        <p:spPr>
          <a:xfrm>
            <a:off x="1698625" y="2312670"/>
            <a:ext cx="9114790" cy="4119245"/>
          </a:xfrm>
        </p:spPr>
        <p:txBody>
          <a:bodyPr>
            <a:normAutofit fontScale="35000"/>
          </a:bodyPr>
          <a:p>
            <a:pPr algn="ctr"/>
            <a:r>
              <a:rPr lang="en-US" altLang="en-US" sz="8000" b="1"/>
              <a:t>Project Overview</a:t>
            </a:r>
            <a:endParaRPr lang="en-US" altLang="en-US" sz="8000" b="1"/>
          </a:p>
          <a:p>
            <a:pPr algn="l"/>
            <a:endParaRPr lang="en-US" altLang="en-US" b="1"/>
          </a:p>
          <a:p>
            <a:pPr algn="l"/>
            <a:r>
              <a:rPr lang="en-US" altLang="en-US" sz="5715" b="1"/>
              <a:t>Problem Definition:</a:t>
            </a:r>
            <a:endParaRPr lang="en-US" altLang="en-US" sz="5715" b="1"/>
          </a:p>
          <a:p>
            <a:pPr algn="l"/>
            <a:r>
              <a:rPr lang="en-US" altLang="en-US" sz="5715"/>
              <a:t>Managing scholarships effectively is a challenge when relying on manual processes. Institutions often face delays in application processing, errors in eligibility verification and difficulties in tracking fund disbursement. Without automation, administrative workloads increase, and the risk of misallocation or fraud rises. To address these issues, a centralized system is essential for streamlining workflows, enforcing eligibility criteria, and ensuring transparency in scholarship management</a:t>
            </a:r>
            <a:endParaRPr lang="en-US" altLang="en-US" sz="571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to="" calcmode="lin" valueType="num">
                                      <p:cBhvr>
                                        <p:cTn id="12" dur="1" fill="hold"/>
                                        <p:tgtEl>
                                          <p:spTgt spid="3">
                                            <p:txEl>
                                              <p:pRg st="2" end="2"/>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to="" calcmode="lin" valueType="num">
                                      <p:cBhvr>
                                        <p:cTn id="17" dur="1" fill="hold"/>
                                        <p:tgtEl>
                                          <p:spTgt spid="3">
                                            <p:txEl>
                                              <p:pRg st="3" end="3"/>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33985"/>
            <a:ext cx="10972800" cy="971550"/>
          </a:xfrm>
        </p:spPr>
        <p:txBody>
          <a:bodyPr/>
          <a:p>
            <a:br>
              <a:rPr lang="en-US" altLang="en-US" sz="2800" b="1"/>
            </a:br>
            <a:r>
              <a:rPr lang="en-US" altLang="en-US" sz="3200" b="1"/>
              <a:t>System Overview and Objectives</a:t>
            </a:r>
            <a:endParaRPr lang="en-US" altLang="en-US" sz="3200" b="1"/>
          </a:p>
        </p:txBody>
      </p:sp>
      <p:sp>
        <p:nvSpPr>
          <p:cNvPr id="3" name="Content Placeholder 2"/>
          <p:cNvSpPr>
            <a:spLocks noGrp="1"/>
          </p:cNvSpPr>
          <p:nvPr>
            <p:ph idx="1"/>
          </p:nvPr>
        </p:nvSpPr>
        <p:spPr>
          <a:xfrm>
            <a:off x="719455" y="1459230"/>
            <a:ext cx="10972800" cy="5215255"/>
          </a:xfrm>
        </p:spPr>
        <p:txBody>
          <a:bodyPr/>
          <a:p>
            <a:r>
              <a:rPr lang="en-US" altLang="en-US" sz="2000" b="1"/>
              <a:t>Context</a:t>
            </a:r>
            <a:r>
              <a:rPr lang="en-US" altLang="en-US" sz="2000"/>
              <a:t>:</a:t>
            </a:r>
            <a:r>
              <a:rPr lang="en-US" altLang="en-US" sz="2000"/>
              <a:t> Designed for universities, government agencies, and private organizations to manage scholarships efficiently.</a:t>
            </a:r>
            <a:endParaRPr lang="en-US" altLang="en-US" sz="1800"/>
          </a:p>
          <a:p>
            <a:r>
              <a:rPr lang="en-US" altLang="en-US" sz="2000" b="1"/>
              <a:t>Target Users</a:t>
            </a:r>
            <a:r>
              <a:rPr lang="en-US" altLang="en-US" sz="2000"/>
              <a:t>: Students applying for scholarships, administrators reviewing applications, and scholarship providers funding the programs.</a:t>
            </a:r>
            <a:endParaRPr lang="en-US" altLang="en-US" sz="2000"/>
          </a:p>
          <a:p>
            <a:pPr marL="0" indent="0">
              <a:buNone/>
            </a:pPr>
            <a:endParaRPr lang="en-US" altLang="en-US" sz="2000" b="1"/>
          </a:p>
          <a:p>
            <a:pPr marL="0" indent="0">
              <a:buNone/>
            </a:pPr>
            <a:r>
              <a:rPr lang="en-US" altLang="en-US" sz="2000" b="1"/>
              <a:t> Project Goals:</a:t>
            </a:r>
            <a:endParaRPr lang="en-US" altLang="en-US" sz="2000" b="1"/>
          </a:p>
          <a:p>
            <a:r>
              <a:rPr lang="en-US" altLang="en-US" sz="2000"/>
              <a:t>Automate application tracking and eligibility verification</a:t>
            </a:r>
            <a:endParaRPr lang="en-US" altLang="en-US" sz="2000"/>
          </a:p>
          <a:p>
            <a:r>
              <a:rPr lang="en-US" altLang="en-US" sz="2000"/>
              <a:t>Ensure secure and timely scholarship disbursement</a:t>
            </a:r>
            <a:endParaRPr lang="en-US" altLang="en-US" sz="2000"/>
          </a:p>
          <a:p>
            <a:r>
              <a:rPr lang="en-US" altLang="en-US" sz="2000"/>
              <a:t>Improve transparency and fairness in selection</a:t>
            </a:r>
            <a:endParaRPr lang="en-US" altLang="en-US" sz="2000"/>
          </a:p>
          <a:p>
            <a:r>
              <a:rPr lang="en-US" altLang="en-US" sz="2000"/>
              <a:t>Reduce paperwork and streamline workflows</a:t>
            </a:r>
            <a:endParaRPr lang="en-US" altLang="en-US" sz="2000"/>
          </a:p>
          <a:p>
            <a:endParaRPr lang="en-US" altLang="en-US" sz="1800" b="1"/>
          </a:p>
          <a:p>
            <a:pPr marL="0" indent="0">
              <a:buNone/>
            </a:pPr>
            <a:r>
              <a:rPr lang="en-US" altLang="en-US" sz="2000" b="1"/>
              <a:t>Project Objectives:</a:t>
            </a:r>
            <a:endParaRPr lang="en-US" altLang="en-US" sz="1600"/>
          </a:p>
          <a:p>
            <a:r>
              <a:rPr lang="en-US" altLang="en-US" sz="2000"/>
              <a:t>Develop a centralized database for managing scholarships</a:t>
            </a:r>
            <a:endParaRPr lang="en-US" altLang="en-US" sz="2000"/>
          </a:p>
          <a:p>
            <a:r>
              <a:rPr lang="en-US" altLang="en-US" sz="2000"/>
              <a:t>Automate application review and selection criteria</a:t>
            </a:r>
            <a:endParaRPr lang="en-US" altLang="en-US" sz="2000"/>
          </a:p>
          <a:p>
            <a:r>
              <a:rPr lang="en-US" altLang="en-US" sz="2000"/>
              <a:t>Provide real-time status updates for students and administrators</a:t>
            </a:r>
            <a:r>
              <a:rPr lang="en-US" altLang="en-US" sz="1800"/>
              <a:t> </a:t>
            </a: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to="" calcmode="lin" valueType="num">
                                      <p:cBhvr>
                                        <p:cTn id="12" dur="1" fill="hold"/>
                                        <p:tgtEl>
                                          <p:spTgt spid="3">
                                            <p:txEl>
                                              <p:pRg st="1" end="1"/>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to="" calcmode="lin" valueType="num">
                                      <p:cBhvr>
                                        <p:cTn id="17" dur="1" fill="hold"/>
                                        <p:tgtEl>
                                          <p:spTgt spid="3">
                                            <p:txEl>
                                              <p:pRg st="3" end="3"/>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 to="" calcmode="lin" valueType="num">
                                      <p:cBhvr>
                                        <p:cTn id="22" dur="1" fill="hold"/>
                                        <p:tgtEl>
                                          <p:spTgt spid="3">
                                            <p:txEl>
                                              <p:pRg st="4" end="4"/>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to="" calcmode="lin" valueType="num">
                                      <p:cBhvr>
                                        <p:cTn id="27" dur="1" fill="hold"/>
                                        <p:tgtEl>
                                          <p:spTgt spid="3">
                                            <p:txEl>
                                              <p:pRg st="5" end="5"/>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 to="" calcmode="lin" valueType="num">
                                      <p:cBhvr>
                                        <p:cTn id="32" dur="1" fill="hold"/>
                                        <p:tgtEl>
                                          <p:spTgt spid="3">
                                            <p:txEl>
                                              <p:pRg st="6" end="6"/>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to="" calcmode="lin" valueType="num">
                                      <p:cBhvr>
                                        <p:cTn id="37" dur="1" fill="hold"/>
                                        <p:tgtEl>
                                          <p:spTgt spid="3">
                                            <p:txEl>
                                              <p:pRg st="7" end="7"/>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 to="" calcmode="lin" valueType="num">
                                      <p:cBhvr>
                                        <p:cTn id="42" dur="1" fill="hold"/>
                                        <p:tgtEl>
                                          <p:spTgt spid="3">
                                            <p:txEl>
                                              <p:pRg st="9" end="9"/>
                                            </p:txEl>
                                          </p:spTgt>
                                        </p:tgtEl>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to="" calcmode="lin" valueType="num">
                                      <p:cBhvr>
                                        <p:cTn id="47" dur="1" fill="hold"/>
                                        <p:tgtEl>
                                          <p:spTgt spid="3">
                                            <p:txEl>
                                              <p:pRg st="10" end="10"/>
                                            </p:txEl>
                                          </p:spTgt>
                                        </p:tgtEl>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 to="" calcmode="lin" valueType="num">
                                      <p:cBhvr>
                                        <p:cTn id="52" dur="1" fill="hold"/>
                                        <p:tgtEl>
                                          <p:spTgt spid="3">
                                            <p:txEl>
                                              <p:pRg st="11" end="11"/>
                                            </p:txEl>
                                          </p:spTgt>
                                        </p:tgtEl>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 to="" calcmode="lin" valueType="num">
                                      <p:cBhvr>
                                        <p:cTn id="57" dur="1" fill="hold"/>
                                        <p:tgtEl>
                                          <p:spTgt spid="3">
                                            <p:txEl>
                                              <p:pRg st="12" end="1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sz="3600"/>
              <a:t>Key Entities and Anticipated Benefits</a:t>
            </a:r>
            <a:endParaRPr lang="en-US" altLang="en-US" sz="3600"/>
          </a:p>
        </p:txBody>
      </p:sp>
      <p:sp>
        <p:nvSpPr>
          <p:cNvPr id="3" name="Content Placeholder 2"/>
          <p:cNvSpPr>
            <a:spLocks noGrp="1"/>
          </p:cNvSpPr>
          <p:nvPr>
            <p:ph idx="1"/>
          </p:nvPr>
        </p:nvSpPr>
        <p:spPr/>
        <p:txBody>
          <a:bodyPr/>
          <a:p>
            <a:pPr marL="0" indent="0">
              <a:buNone/>
            </a:pPr>
            <a:r>
              <a:rPr lang="en-US" altLang="en-US" sz="2000" b="1"/>
              <a:t>Main Database Entities</a:t>
            </a:r>
            <a:endParaRPr lang="en-US" altLang="en-US" sz="2000" b="1"/>
          </a:p>
          <a:p>
            <a:r>
              <a:rPr lang="en-US" altLang="en-US" sz="2000" b="1"/>
              <a:t>Students</a:t>
            </a:r>
            <a:r>
              <a:rPr lang="en-US" altLang="en-US" sz="2000"/>
              <a:t> – Applicant details, academic records, and financial need status</a:t>
            </a:r>
            <a:endParaRPr lang="en-US" altLang="en-US" sz="2000"/>
          </a:p>
          <a:p>
            <a:r>
              <a:rPr lang="en-US" altLang="en-US" sz="2000" b="1"/>
              <a:t>Scholarships</a:t>
            </a:r>
            <a:r>
              <a:rPr lang="en-US" altLang="en-US" sz="2000"/>
              <a:t> – Eligibility criteria, funding amount, deadlines</a:t>
            </a:r>
            <a:endParaRPr lang="en-US" altLang="en-US" sz="2000"/>
          </a:p>
          <a:p>
            <a:r>
              <a:rPr lang="en-US" altLang="en-US" sz="2000" b="1"/>
              <a:t>Applications </a:t>
            </a:r>
            <a:r>
              <a:rPr lang="en-US" altLang="en-US" sz="2000"/>
              <a:t>– Submission details, supporting documents, review status</a:t>
            </a:r>
            <a:endParaRPr lang="en-US" altLang="en-US" sz="2000"/>
          </a:p>
          <a:p>
            <a:r>
              <a:rPr lang="en-US" altLang="en-US" sz="2000" b="1"/>
              <a:t>Administrators</a:t>
            </a:r>
            <a:r>
              <a:rPr lang="en-US" altLang="en-US" sz="2000"/>
              <a:t> – Users managing reviews and fund disbursements</a:t>
            </a:r>
            <a:endParaRPr lang="en-US" altLang="en-US" sz="2000"/>
          </a:p>
          <a:p>
            <a:r>
              <a:rPr lang="en-US" altLang="en-US" sz="2000" b="1"/>
              <a:t>Disbursements</a:t>
            </a:r>
            <a:r>
              <a:rPr lang="en-US" altLang="en-US" sz="2000"/>
              <a:t> – Scholarship payments and tracking</a:t>
            </a:r>
            <a:endParaRPr lang="en-US" altLang="en-US" sz="2000"/>
          </a:p>
          <a:p>
            <a:pPr marL="0" indent="0">
              <a:buNone/>
            </a:pPr>
            <a:endParaRPr lang="en-US" altLang="en-US" sz="2000" b="1"/>
          </a:p>
          <a:p>
            <a:pPr marL="0" indent="0">
              <a:buNone/>
            </a:pPr>
            <a:r>
              <a:rPr lang="en-US" altLang="en-US" sz="2000" b="1"/>
              <a:t>Anticipated Benefits</a:t>
            </a:r>
            <a:endParaRPr lang="en-US" altLang="en-US" sz="2000" b="1"/>
          </a:p>
          <a:p>
            <a:r>
              <a:rPr lang="en-US" altLang="en-US" sz="2000"/>
              <a:t> Reduced administrative burden through automation</a:t>
            </a:r>
            <a:endParaRPr lang="en-US" altLang="en-US" sz="2000"/>
          </a:p>
          <a:p>
            <a:r>
              <a:rPr lang="en-US" altLang="en-US" sz="2000"/>
              <a:t> Enhanced accuracy in selection and eligibility verification</a:t>
            </a:r>
            <a:endParaRPr lang="en-US" altLang="en-US" sz="2000"/>
          </a:p>
          <a:p>
            <a:r>
              <a:rPr lang="en-US" altLang="en-US" sz="2000"/>
              <a:t> Faster processing and real-time application status tracking</a:t>
            </a:r>
            <a:endParaRPr lang="en-US" altLang="en-US" sz="2000"/>
          </a:p>
          <a:p>
            <a:r>
              <a:rPr lang="en-US" altLang="en-US" sz="2000"/>
              <a:t> Greater accessibility for students to find and apply for funding</a:t>
            </a:r>
            <a:endParaRPr lang="en-US" altLang="en-US" sz="2000"/>
          </a:p>
          <a:p>
            <a:pPr marL="0" indent="0">
              <a:buNone/>
            </a:pPr>
            <a:r>
              <a:rPr lang="en-US" altLang="en-US" sz="1800" b="1" i="1"/>
              <a:t>The Scholarship Management System will ensure a more efficient, transparent, and secure process, benefiting both students and administrators</a:t>
            </a:r>
            <a:endParaRPr lang="en-US" altLang="en-US" sz="1800"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to="" calcmode="lin" valueType="num">
                                      <p:cBhvr>
                                        <p:cTn id="12" dur="1" fill="hold"/>
                                        <p:tgtEl>
                                          <p:spTgt spid="3">
                                            <p:txEl>
                                              <p:pRg st="1" end="1"/>
                                            </p:txEl>
                                          </p:spTgt>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to="" calcmode="lin" valueType="num">
                                      <p:cBhvr>
                                        <p:cTn id="17" dur="1" fill="hold"/>
                                        <p:tgtEl>
                                          <p:spTgt spid="3">
                                            <p:txEl>
                                              <p:pRg st="2" end="2"/>
                                            </p:txEl>
                                          </p:spTgt>
                                        </p:tgtEl>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to="" calcmode="lin" valueType="num">
                                      <p:cBhvr>
                                        <p:cTn id="22" dur="1" fill="hold"/>
                                        <p:tgtEl>
                                          <p:spTgt spid="3">
                                            <p:txEl>
                                              <p:pRg st="3" end="3"/>
                                            </p:txEl>
                                          </p:spTgt>
                                        </p:tgtEl>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to="" calcmode="lin" valueType="num">
                                      <p:cBhvr>
                                        <p:cTn id="27" dur="1" fill="hold"/>
                                        <p:tgtEl>
                                          <p:spTgt spid="3">
                                            <p:txEl>
                                              <p:pRg st="4" end="4"/>
                                            </p:txEl>
                                          </p:spTgt>
                                        </p:tgtEl>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to="" calcmode="lin" valueType="num">
                                      <p:cBhvr>
                                        <p:cTn id="32" dur="1" fill="hold"/>
                                        <p:tgtEl>
                                          <p:spTgt spid="3">
                                            <p:txEl>
                                              <p:pRg st="5" end="5"/>
                                            </p:txEl>
                                          </p:spTgt>
                                        </p:tgtEl>
                                      </p:cBhvr>
                                    </p:anim>
                                  </p:childTnLst>
                                </p:cTn>
                              </p:par>
                            </p:childTnLst>
                          </p:cTn>
                        </p:par>
                      </p:childTnLst>
                    </p:cTn>
                  </p:par>
                  <p:par>
                    <p:cTn id="33" fill="hold">
                      <p:stCondLst>
                        <p:cond delay="indefinite"/>
                      </p:stCondLst>
                      <p:childTnLst>
                        <p:par>
                          <p:cTn id="34" fill="hold">
                            <p:stCondLst>
                              <p:cond delay="0"/>
                            </p:stCondLst>
                            <p:childTnLst>
                              <p:par>
                                <p:cTn id="35" presetID="24"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to="" calcmode="lin" valueType="num">
                                      <p:cBhvr>
                                        <p:cTn id="37" dur="1" fill="hold"/>
                                        <p:tgtEl>
                                          <p:spTgt spid="3">
                                            <p:txEl>
                                              <p:pRg st="7" end="7"/>
                                            </p:txEl>
                                          </p:spTgt>
                                        </p:tgtEl>
                                      </p:cBhvr>
                                    </p:anim>
                                  </p:childTnLst>
                                </p:cTn>
                              </p:par>
                            </p:childTnLst>
                          </p:cTn>
                        </p:par>
                      </p:childTnLst>
                    </p:cTn>
                  </p:par>
                  <p:par>
                    <p:cTn id="38" fill="hold">
                      <p:stCondLst>
                        <p:cond delay="indefinite"/>
                      </p:stCondLst>
                      <p:childTnLst>
                        <p:par>
                          <p:cTn id="39" fill="hold">
                            <p:stCondLst>
                              <p:cond delay="0"/>
                            </p:stCondLst>
                            <p:childTnLst>
                              <p:par>
                                <p:cTn id="40" presetID="24"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 to="" calcmode="lin" valueType="num">
                                      <p:cBhvr>
                                        <p:cTn id="42" dur="1" fill="hold"/>
                                        <p:tgtEl>
                                          <p:spTgt spid="3">
                                            <p:txEl>
                                              <p:pRg st="8" end="8"/>
                                            </p:txEl>
                                          </p:spTgt>
                                        </p:tgtEl>
                                      </p:cBhvr>
                                    </p:anim>
                                  </p:childTnLst>
                                </p:cTn>
                              </p:par>
                            </p:childTnLst>
                          </p:cTn>
                        </p:par>
                      </p:childTnLst>
                    </p:cTn>
                  </p:par>
                  <p:par>
                    <p:cTn id="43" fill="hold">
                      <p:stCondLst>
                        <p:cond delay="indefinite"/>
                      </p:stCondLst>
                      <p:childTnLst>
                        <p:par>
                          <p:cTn id="44" fill="hold">
                            <p:stCondLst>
                              <p:cond delay="0"/>
                            </p:stCondLst>
                            <p:childTnLst>
                              <p:par>
                                <p:cTn id="45" presetID="24"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to="" calcmode="lin" valueType="num">
                                      <p:cBhvr>
                                        <p:cTn id="47" dur="1" fill="hold"/>
                                        <p:tgtEl>
                                          <p:spTgt spid="3">
                                            <p:txEl>
                                              <p:pRg st="9" end="9"/>
                                            </p:txEl>
                                          </p:spTgt>
                                        </p:tgtEl>
                                      </p:cBhvr>
                                    </p:anim>
                                  </p:childTnLst>
                                </p:cTn>
                              </p:par>
                            </p:childTnLst>
                          </p:cTn>
                        </p:par>
                      </p:childTnLst>
                    </p:cTn>
                  </p:par>
                  <p:par>
                    <p:cTn id="48" fill="hold">
                      <p:stCondLst>
                        <p:cond delay="indefinite"/>
                      </p:stCondLst>
                      <p:childTnLst>
                        <p:par>
                          <p:cTn id="49" fill="hold">
                            <p:stCondLst>
                              <p:cond delay="0"/>
                            </p:stCondLst>
                            <p:childTnLst>
                              <p:par>
                                <p:cTn id="50" presetID="24"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 to="" calcmode="lin" valueType="num">
                                      <p:cBhvr>
                                        <p:cTn id="52" dur="1" fill="hold"/>
                                        <p:tgtEl>
                                          <p:spTgt spid="3">
                                            <p:txEl>
                                              <p:pRg st="10" end="10"/>
                                            </p:txEl>
                                          </p:spTgt>
                                        </p:tgtEl>
                                      </p:cBhvr>
                                    </p:anim>
                                  </p:childTnLst>
                                </p:cTn>
                              </p:par>
                            </p:childTnLst>
                          </p:cTn>
                        </p:par>
                      </p:childTnLst>
                    </p:cTn>
                  </p:par>
                  <p:par>
                    <p:cTn id="53" fill="hold">
                      <p:stCondLst>
                        <p:cond delay="indefinite"/>
                      </p:stCondLst>
                      <p:childTnLst>
                        <p:par>
                          <p:cTn id="54" fill="hold">
                            <p:stCondLst>
                              <p:cond delay="0"/>
                            </p:stCondLst>
                            <p:childTnLst>
                              <p:par>
                                <p:cTn id="55" presetID="24"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 to="" calcmode="lin" valueType="num">
                                      <p:cBhvr>
                                        <p:cTn id="57" dur="1" fill="hold"/>
                                        <p:tgtEl>
                                          <p:spTgt spid="3">
                                            <p:txEl>
                                              <p:pRg st="11" end="11"/>
                                            </p:txEl>
                                          </p:spTgt>
                                        </p:tgtEl>
                                      </p:cBhvr>
                                    </p:anim>
                                  </p:childTnLst>
                                </p:cTn>
                              </p:par>
                            </p:childTnLst>
                          </p:cTn>
                        </p:par>
                      </p:childTnLst>
                    </p:cTn>
                  </p:par>
                  <p:par>
                    <p:cTn id="58" fill="hold">
                      <p:stCondLst>
                        <p:cond delay="indefinite"/>
                      </p:stCondLst>
                      <p:childTnLst>
                        <p:par>
                          <p:cTn id="59" fill="hold">
                            <p:stCondLst>
                              <p:cond delay="0"/>
                            </p:stCondLst>
                            <p:childTnLst>
                              <p:par>
                                <p:cTn id="60" presetID="24"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 to="" calcmode="lin" valueType="num">
                                      <p:cBhvr>
                                        <p:cTn id="62" dur="1" fill="hold"/>
                                        <p:tgtEl>
                                          <p:spTgt spid="3">
                                            <p:txEl>
                                              <p:pRg st="12" end="12"/>
                                            </p:txEl>
                                          </p:spTgt>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theme/theme1.xml><?xml version="1.0" encoding="utf-8"?>
<a:theme xmlns:a="http://schemas.openxmlformats.org/drawingml/2006/main" name="1_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2012</Words>
  <Application>WPS Presentation</Application>
  <PresentationFormat>Widescreen</PresentationFormat>
  <Paragraphs>39</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SimSun</vt:lpstr>
      <vt:lpstr>Wingdings</vt:lpstr>
      <vt:lpstr>Microsoft YaHei</vt:lpstr>
      <vt:lpstr>Arial Unicode MS</vt:lpstr>
      <vt:lpstr>Calibri</vt:lpstr>
      <vt:lpstr>Bahnschrift</vt:lpstr>
      <vt:lpstr>1_Business Cooperate</vt:lpstr>
      <vt:lpstr>SCHOLARSHIP MANAGEMENT SYSTEM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SCHOLARSHIP MANAGEMENT SYSTEM</dc:title>
  <dc:creator>ineza</dc:creator>
  <cp:lastModifiedBy>INEZA Belyse</cp:lastModifiedBy>
  <cp:revision>2</cp:revision>
  <dcterms:created xsi:type="dcterms:W3CDTF">2025-03-26T12:26:00Z</dcterms:created>
  <dcterms:modified xsi:type="dcterms:W3CDTF">2025-03-27T19:04:09Z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90D86426285D424B91027DC574023C07_13</vt:lpwstr>
  </property>
  <property fmtid="{D5CDD505-2E9C-101B-9397-08002B2CF9AE}" pid="3" name="KSOProductBuildVer">
    <vt:lpwstr>1033-12.2.0.20326</vt:lpwstr>
  </property>
</Properties>
</file>